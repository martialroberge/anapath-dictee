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40" d="100"/>
          <a:sy n="140" d="100"/>
        </p:scale>
        <p:origin x="1032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5045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822960"/>
            <a:ext cx="4389120" cy="4389120"/>
          </a:xfrm>
          <a:prstGeom prst="ellipse">
            <a:avLst/>
          </a:prstGeom>
          <a:solidFill>
            <a:srgbClr val="028090">
              <a:alpha val="22000"/>
            </a:srgbClr>
          </a:solidFill>
          <a:ln w="12700">
            <a:solidFill>
              <a:srgbClr val="02809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223760" y="2194560"/>
            <a:ext cx="2651760" cy="2651760"/>
          </a:xfrm>
          <a:prstGeom prst="ellipse">
            <a:avLst/>
          </a:prstGeom>
          <a:solidFill>
            <a:srgbClr val="02C39A">
              <a:alpha val="17000"/>
            </a:srgbClr>
          </a:solidFill>
          <a:ln w="12700">
            <a:solidFill>
              <a:srgbClr val="02C39A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5120640" y="2926080"/>
            <a:ext cx="1645920" cy="1645920"/>
          </a:xfrm>
          <a:prstGeom prst="ellipse">
            <a:avLst/>
          </a:prstGeom>
          <a:solidFill>
            <a:srgbClr val="065A82">
              <a:alpha val="28000"/>
            </a:srgbClr>
          </a:solidFill>
          <a:ln w="12700">
            <a:solidFill>
              <a:srgbClr val="065A82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09728" cy="2560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13232" y="11430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la voix au compte rendu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pipeline IA pour l'anatomopathologie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13232" y="28346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de co-construction  ·  Mars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  ·   Fine-tuning LLM   ·   Déploiement HDS   ·   Publications scientifiques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Deux workflows, les memes frictions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Qu'on saisisse ou qu'on dicte, le probleme de fond reste le meme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 A — Saisie directe (majoritaire)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234440"/>
            <a:ext cx="393192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754880" y="1234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 B — Avec Dragon (minoritaire)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566928" y="1801368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66928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173736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Observation au microscope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002536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lames histologiques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404872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566928" y="251460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66928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45059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Saisie dans Word / logiciel metier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715768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propre au service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118104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566928" y="3227832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66928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163824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Raccourcis + modeles pre-remplis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42900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Regles metier propres aux anapathes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831336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566928" y="3941064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66928" y="3941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387705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Relecture et validation finale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4142232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finalize et archive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1691640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864608" y="1801368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864608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03520" y="173736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Observation au microscope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2002536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lames histologiques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2404872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4864608" y="2514600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864608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03520" y="245059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Dictee libre (idees en vrac)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03520" y="2715768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structure, flux de conscience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54880" y="3118104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4864608" y="3227832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864608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03520" y="3163824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Dragon retranscrit (cloud Azure, non HDS)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03520" y="342900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uniquement — aucune structuration IA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54880" y="3831336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4864608" y="3941064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4864608" y="3941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303520" y="387705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Mise en forme manuelle du CR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303520" y="4142232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Restructuration et edition dans Word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57200" y="4636008"/>
            <a:ext cx="8229600" cy="347472"/>
          </a:xfrm>
          <a:prstGeom prst="rect">
            <a:avLst/>
          </a:prstGeom>
          <a:solidFill>
            <a:srgbClr val="FFF3E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457200" y="46360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les deux cas : rupture du flux visuel  ·  Saisie chronophage  ·  Donnees jamais capitalisees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vision : de l'observation au CR en temps reel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vocale  →  Intelligence  →  Document structuré — en temps réel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" y="1325880"/>
            <a:ext cx="1426464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75488" y="1325880"/>
            <a:ext cx="1426464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75488" y="132588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21208" y="1892808"/>
            <a:ext cx="1335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Dictée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microscope,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temps réel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29384" y="2583180"/>
            <a:ext cx="283464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039112" y="2427732"/>
            <a:ext cx="201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240280" y="1325880"/>
            <a:ext cx="1426464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240280" y="1325880"/>
            <a:ext cx="1426464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240280" y="132588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286000" y="1892808"/>
            <a:ext cx="1335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313432" y="26517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Fine-tuné sur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vocabulaire métier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94176" y="2583180"/>
            <a:ext cx="283464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803904" y="2427732"/>
            <a:ext cx="201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05072" y="1325880"/>
            <a:ext cx="1426464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005072" y="1325880"/>
            <a:ext cx="1426464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005072" y="132588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050792" y="1892808"/>
            <a:ext cx="1335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078224" y="26517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 err="1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ingere</a:t>
            </a: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structure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58968" y="2583180"/>
            <a:ext cx="283464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568696" y="2427732"/>
            <a:ext cx="201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769864" y="1325880"/>
            <a:ext cx="1426464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5769864" y="1325880"/>
            <a:ext cx="1426464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769864" y="132588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815584" y="1892808"/>
            <a:ext cx="1335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Compte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Rendu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843016" y="26517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standard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validé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223760" y="2583180"/>
            <a:ext cx="283464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7333488" y="2427732"/>
            <a:ext cx="201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534656" y="1325880"/>
            <a:ext cx="1426464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7534656" y="1325880"/>
            <a:ext cx="1426464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7534656" y="132588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7580376" y="1892808"/>
            <a:ext cx="1335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607808" y="26517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copier-</a:t>
            </a:r>
            <a:r>
              <a:rPr lang="en-US" sz="1100" dirty="0" err="1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coller</a:t>
            </a: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4160520"/>
            <a:ext cx="8229600" cy="658368"/>
          </a:xfrm>
          <a:prstGeom prst="rect">
            <a:avLst/>
          </a:prstGeom>
          <a:solidFill>
            <a:srgbClr val="EBF8FB"/>
          </a:solidFill>
          <a:ln w="12700">
            <a:solidFill>
              <a:srgbClr val="02C39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457200" y="4160520"/>
            <a:ext cx="64008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640080" y="4187952"/>
            <a:ext cx="7909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cle : l'entrainement sur VOS propres cas. Plus le systeme apprend votre pratique, plus la reconnaissance et la structuration gagnent en precision et en pertinence.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Pourquoi les outils actuels ne suffisent pas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la transcription seule, ni le LLM generaliste ne repondent aux exigences du terrain clinique.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920240" y="1261872"/>
            <a:ext cx="2103120" cy="5486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920240" y="12618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Dragon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920240" y="1563624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seul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34840" y="1261872"/>
            <a:ext cx="2103120" cy="5486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434840" y="12618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ChatGPT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434840" y="1563624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generaliste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49440" y="1261872"/>
            <a:ext cx="210312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949440" y="12618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Notre solution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949440" y="1563624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specialisee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883664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02920" y="1883664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brute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65960" y="1938528"/>
            <a:ext cx="2011680" cy="438912"/>
          </a:xfrm>
          <a:prstGeom prst="rect">
            <a:avLst/>
          </a:prstGeom>
          <a:solidFill>
            <a:srgbClr val="E8F5E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1965960" y="193852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80560" y="1938528"/>
            <a:ext cx="2011680" cy="438912"/>
          </a:xfrm>
          <a:prstGeom prst="rect">
            <a:avLst/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480560" y="193852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95160" y="1938528"/>
            <a:ext cx="2011680" cy="438912"/>
          </a:xfrm>
          <a:prstGeom prst="rect">
            <a:avLst/>
          </a:prstGeom>
          <a:solidFill>
            <a:srgbClr val="E0F7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995160" y="193852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Excellente (fine-tunee)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459736"/>
            <a:ext cx="859536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02920" y="2459736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Vocabulaire anatomo-patho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80560" y="2514600"/>
            <a:ext cx="2011680" cy="438912"/>
          </a:xfrm>
          <a:prstGeom prst="rect">
            <a:avLst/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480560" y="251460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95160" y="2514600"/>
            <a:ext cx="2011680" cy="438912"/>
          </a:xfrm>
          <a:prstGeom prst="rect">
            <a:avLst/>
          </a:prstGeom>
          <a:solidFill>
            <a:srgbClr val="E0F7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995160" y="251460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Entraine au metier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035808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02920" y="3035808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Structuration intelligente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965960" y="3090672"/>
            <a:ext cx="2011680" cy="438912"/>
          </a:xfrm>
          <a:prstGeom prst="rect">
            <a:avLst/>
          </a:prstGeom>
          <a:solidFill>
            <a:srgbClr val="FFEBE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1965960" y="309067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(templates)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480560" y="3090672"/>
            <a:ext cx="2011680" cy="438912"/>
          </a:xfrm>
          <a:prstGeom prst="rect">
            <a:avLst/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480560" y="309067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Approximative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995160" y="3090672"/>
            <a:ext cx="2011680" cy="438912"/>
          </a:xfrm>
          <a:prstGeom prst="rect">
            <a:avLst/>
          </a:prstGeom>
          <a:solidFill>
            <a:srgbClr val="E0F7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6995160" y="309067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Formatee et controlee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3611880"/>
            <a:ext cx="859536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502920" y="361188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Confidentialite des donnees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965960" y="3666744"/>
            <a:ext cx="2011680" cy="438912"/>
          </a:xfrm>
          <a:prstGeom prst="rect">
            <a:avLst/>
          </a:prstGeom>
          <a:solidFill>
            <a:srgbClr val="FFEBE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1965960" y="3666744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Azure - NON HDS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480560" y="3666744"/>
            <a:ext cx="2011680" cy="438912"/>
          </a:xfrm>
          <a:prstGeom prst="rect">
            <a:avLst/>
          </a:prstGeom>
          <a:solidFill>
            <a:srgbClr val="FFEBE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4480560" y="3666744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tiers - NON HDS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995160" y="3666744"/>
            <a:ext cx="2011680" cy="438912"/>
          </a:xfrm>
          <a:prstGeom prst="rect">
            <a:avLst/>
          </a:prstGeom>
          <a:solidFill>
            <a:srgbClr val="E0F7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6995160" y="3666744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HDS ou local possible </a:t>
            </a:r>
            <a:r>
              <a:rPr lang="en-US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cloud souverain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4187952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502920" y="4187952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Utilisable en production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965960" y="4242816"/>
            <a:ext cx="2011680" cy="438912"/>
          </a:xfrm>
          <a:prstGeom prst="rect">
            <a:avLst/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1965960" y="424281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Partiellement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480560" y="4242816"/>
            <a:ext cx="2011680" cy="438912"/>
          </a:xfrm>
          <a:prstGeom prst="rect">
            <a:avLst/>
          </a:prstGeom>
          <a:solidFill>
            <a:srgbClr val="FFEBE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4480560" y="424281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valide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995160" y="4242816"/>
            <a:ext cx="2011680" cy="438912"/>
          </a:xfrm>
          <a:prstGeom prst="rect">
            <a:avLst/>
          </a:prstGeom>
          <a:solidFill>
            <a:srgbClr val="E0F7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6995160" y="424281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core</a:t>
            </a:r>
            <a:endParaRPr lang="en-US" sz="1100" dirty="0"/>
          </a:p>
        </p:txBody>
      </p:sp>
      <p:sp>
        <p:nvSpPr>
          <p:cNvPr id="55" name="Shape 14">
            <a:extLst>
              <a:ext uri="{FF2B5EF4-FFF2-40B4-BE49-F238E27FC236}">
                <a16:creationId xmlns:a16="http://schemas.microsoft.com/office/drawing/2014/main" id="{38ECE10B-1831-CBE9-3FDA-49A3316EC124}"/>
              </a:ext>
            </a:extLst>
          </p:cNvPr>
          <p:cNvSpPr/>
          <p:nvPr/>
        </p:nvSpPr>
        <p:spPr>
          <a:xfrm>
            <a:off x="1965960" y="2514600"/>
            <a:ext cx="2011680" cy="438912"/>
          </a:xfrm>
          <a:prstGeom prst="rect">
            <a:avLst/>
          </a:prstGeom>
          <a:solidFill>
            <a:srgbClr val="E8F5E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1965960" y="251460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la dictee au compte rendu — exemple reel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Biopsie pulmonaire (cas 1) — extrait de la serie de dictees anatomopathologiques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3840480" cy="361188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3840480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Dictee au microscope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764792"/>
            <a:ext cx="3621024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A8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...biopsie du lobe inferieur droit, cinq millimetres. Proliferation tumorale — plages de cellules fortement atypiques, rares structures glandulaires... pas de mucosecretion. Stroma fibro-hyalin, legerement inflammatoire. Immuno TTF1 positif, PD-L1 cinq pourcents environ, ALK negatif en immunohistochimie... "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4340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-&gt;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937760" y="1261872"/>
            <a:ext cx="37490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937760" y="1261872"/>
            <a:ext cx="374904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937760" y="126187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Compte rendu genere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47488" y="1801368"/>
            <a:ext cx="3520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PRELEVEMENT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47488" y="204825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Biopsie pulmonaire — lobe inferieur droit, 5 mm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47488" y="2514600"/>
            <a:ext cx="3520440" cy="0"/>
          </a:xfrm>
          <a:prstGeom prst="line">
            <a:avLst/>
          </a:prstGeom>
          <a:noFill/>
          <a:ln w="12700">
            <a:solidFill>
              <a:srgbClr val="D1D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047488" y="2569464"/>
            <a:ext cx="3520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HISTOLOGIE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47488" y="281635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Proliferation tumorale acineuse. Cellules atypiques. Stroma fibro-hyalin. Pas de mucosecretion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47488" y="3282696"/>
            <a:ext cx="3520440" cy="0"/>
          </a:xfrm>
          <a:prstGeom prst="line">
            <a:avLst/>
          </a:prstGeom>
          <a:noFill/>
          <a:ln w="12700">
            <a:solidFill>
              <a:srgbClr val="D1D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047488" y="3337560"/>
            <a:ext cx="3520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IMMUNOMARQUAGE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47488" y="358444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TTF1+   PD-L1 ~5%   ALK-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47488" y="4050792"/>
            <a:ext cx="3520440" cy="0"/>
          </a:xfrm>
          <a:prstGeom prst="line">
            <a:avLst/>
          </a:prstGeom>
          <a:noFill/>
          <a:ln w="12700">
            <a:solidFill>
              <a:srgbClr val="D1D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047488" y="4105656"/>
            <a:ext cx="3520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47488" y="435254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Adenocarcinome infiltrant non mucineux, phenotype pulmonaire (TTF1+)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verrous a valider — questions de recherche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axes structurants pour co-construire une solution fiable et adoptee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40233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023360" cy="822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594360" y="145389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9436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70432" y="1481328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Entraînement</a:t>
            </a: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STT metier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9659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corpus minimal ? Comment modeliser les termes rares (koilocytes, lepidique, acineuse...) ? Quel gain en Word Error Rate sur le vocabulaire anatomopathologique 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298448"/>
            <a:ext cx="40233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709160" y="1298448"/>
            <a:ext cx="4023360" cy="822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846320" y="1453896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4632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22392" y="1481328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Standardisation vs. adaptation des CR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9659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unique impose ou adaptation par praticien ? Quel degre de liberte stylistique tout en garantissant une structuration exploitable par la base de donnees 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40233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4023360" cy="822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594360" y="3172968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9436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70432" y="3200400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Securite, confidentialite, deploiement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368503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HDS certifie ou deploiement 100% local ? Pseudonymisation des donnees. Conformite RGPD et referenciel HAS pour les donnees de sante.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3017520"/>
            <a:ext cx="40233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709160" y="3017520"/>
            <a:ext cx="4023360" cy="8229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846320" y="3172968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84632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V4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22392" y="3200400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Ergonomie et adoption terrain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368503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minimale qui ne rompt pas le flux d'observation. Web, app ou device dedie ? Mesure de l'adoption reelle et du taux de correction post-generation.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Mesurer l'impact — les indicateurs a co-definir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projet scientifique robuste se construit sur des metriques partagees et mesurables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40233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023360" cy="822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594360" y="145389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9436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70432" y="1481328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Gain de temps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9659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Duree moyenne par CR avant / apres. Combien de minutes liberees par dossier ? Objectif : mesurer sur un corpus reel de vos cas.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298448"/>
            <a:ext cx="40233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709160" y="1298448"/>
            <a:ext cx="4023360" cy="822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846320" y="1453896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4632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22392" y="1481328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Qualite &amp; fiabilite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9659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correction post-generation. La liberte vocale ameliore-t-elle la completude des informations ? Gain ou perte de precision 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40233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4023360" cy="822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594360" y="3172968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9436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70432" y="3200400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Adoption terrain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368503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d'utilisation reel apres deploiement. L'outil s'integre-t-il au flux d'observation sans rupture du regard 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3017520"/>
            <a:ext cx="40233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709160" y="3017520"/>
            <a:ext cx="4023360" cy="8229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846320" y="3172968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84632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M4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22392" y="3200400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Valeur des donnees generees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368503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donnees structurees et requetables. Capacite a produire des statistiques sur les pathologies et les occurrences.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626864"/>
            <a:ext cx="8229600" cy="347472"/>
          </a:xfrm>
          <a:prstGeom prst="rect">
            <a:avLst/>
          </a:prstGeom>
          <a:solidFill>
            <a:srgbClr val="EBF5F9"/>
          </a:solidFill>
          <a:ln w="12700">
            <a:solidFill>
              <a:srgbClr val="02C39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57200" y="4626864"/>
            <a:ext cx="64008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40080" y="4645152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metriques definissent aussi le protocole scientifique — un accord sur les indicateurs est un des premiers livrables du projet.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Capitaliser sur les donnees — un actif qui grandit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CR genere est code, structure, requetable — la donnee brute devient connaissance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269748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30352" y="129844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129844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de donnees</a:t>
            </a:r>
            <a:endParaRPr lang="en-US" sz="1250" dirty="0"/>
          </a:p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1993392"/>
            <a:ext cx="2478024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CR indexe automatiquement : type de prelevement, pathologie detectee, marqueurs immuno, stade tumoral. Format requetable pour analyse.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55848" y="1298448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355848" y="1298448"/>
            <a:ext cx="269748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429000" y="129844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950208" y="129844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Statistiques</a:t>
            </a:r>
            <a:endParaRPr lang="en-US" sz="1250" dirty="0"/>
          </a:p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pathologiques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65576" y="1993392"/>
            <a:ext cx="2478024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Frequences de pathologies, correlations clinico-pathologiques, evolution temporelle de l'activite. Tableau de bord en temps reel du service.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54496" y="1298448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6254496" y="1298448"/>
            <a:ext cx="269748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327648" y="129844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48856" y="129844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Publications</a:t>
            </a:r>
            <a:endParaRPr lang="en-US" sz="1250" dirty="0"/>
          </a:p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scientifiques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64224" y="1993392"/>
            <a:ext cx="2478024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donnees codees permettent des analyses impossibles depuis Word non structure : etudes retrospectives, frequences, correlations. La voie vers des publications indexees s'ouvre naturellement.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Dictee  -&gt;  CR structure  -&gt;  Base indexee  -&gt;  Statistiques  -&gt;  Publications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64008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projet co-construit — chacun apporte ce qu'il fait le mieux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apportez le terrain et l'expertise. Nous portons le developpement. Ensemble, on cree quelque chose qui dure.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28346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283464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Votre clinique apporte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5216" y="1892808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969264" y="182880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anatomo-pathologique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5216" y="2459736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969264" y="239572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de dictees reelles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5216" y="3026664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969264" y="296265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clinique des CR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85216" y="3593592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969264" y="352958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 </a:t>
            </a:r>
            <a:r>
              <a:rPr lang="en-US" sz="11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scientifique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5216" y="4160520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969264" y="409651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Potentielles</a:t>
            </a: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publications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29000" y="1664208"/>
            <a:ext cx="2286000" cy="2743200"/>
          </a:xfrm>
          <a:prstGeom prst="rect">
            <a:avLst/>
          </a:prstGeom>
          <a:solidFill>
            <a:srgbClr val="EBF5F9"/>
          </a:solidFill>
          <a:ln w="12700">
            <a:solidFill>
              <a:srgbClr val="D1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9" name="Shape 17"/>
          <p:cNvSpPr/>
          <p:nvPr/>
        </p:nvSpPr>
        <p:spPr>
          <a:xfrm>
            <a:off x="3429000" y="1664208"/>
            <a:ext cx="2286000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429000" y="166420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Ensemble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566160" y="246888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Solution calibree terrain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66160" y="299008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Publications communes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66160" y="351129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Metriques &amp; validation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52160" y="1261872"/>
            <a:ext cx="28346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5852160" y="1261872"/>
            <a:ext cx="283464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852160" y="126187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Nous apportons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80176" y="1892808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364224" y="182880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Developpement technologique complet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980176" y="2459736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364224" y="239572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entrainement + intelligence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980176" y="3026664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6364224" y="296265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iterations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980176" y="3593592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6364224" y="352958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&amp; infrastructure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980176" y="4160520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6364224" y="409651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 la solution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548640"/>
            <a:ext cx="3474720" cy="347472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548640" y="3291840"/>
            <a:ext cx="2286000" cy="22860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347472"/>
            <a:ext cx="109728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85800" y="301752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Transformer chaque observation au microscope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un actif scientifique vivant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2651760" cy="2651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66928" y="15727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61872" y="16002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Pilote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258568"/>
            <a:ext cx="2432304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mois · Deploiement sur cas reels, fine-tuning STT, validation des CR generes, mesure de la satisfaction terrain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444752"/>
            <a:ext cx="2651760" cy="2651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447288" y="1572768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447288" y="15727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42232" y="16002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Calibration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47288" y="2258568"/>
            <a:ext cx="2432304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mois · Iterations qualite, structuration de la base, mesure des gains en temps et fiabilite, premiers chiffres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444752"/>
            <a:ext cx="2651760" cy="2651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327648" y="1572768"/>
            <a:ext cx="594360" cy="5943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327648" y="15727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22592" y="16002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Deploiement &amp; Science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27648" y="2258568"/>
            <a:ext cx="2432304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5-12 mois · Solution stabilisee, statistiques pathologiques actives, soumission d'un article de validation indexe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1151</TotalTime>
  <Words>1030</Words>
  <Application>Microsoft Macintosh PowerPoint</Application>
  <PresentationFormat>Affichage à l'écran (16:9)</PresentationFormat>
  <Paragraphs>186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 la voix au compte rendu</dc:title>
  <dc:subject>PptxGenJS Presentation</dc:subject>
  <dc:creator>Voice AI Pipeline</dc:creator>
  <cp:lastModifiedBy>Martial ROBERGE</cp:lastModifiedBy>
  <cp:revision>8</cp:revision>
  <dcterms:created xsi:type="dcterms:W3CDTF">2026-03-12T14:22:52Z</dcterms:created>
  <dcterms:modified xsi:type="dcterms:W3CDTF">2026-03-13T10:05:18Z</dcterms:modified>
</cp:coreProperties>
</file>